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Nunito" pitchFamily="2" charset="0"/>
      <p:regular r:id="rId15"/>
      <p:bold r:id="rId16"/>
      <p:italic r:id="rId17"/>
      <p:boldItalic r:id="rId18"/>
    </p:embeddedFont>
    <p:embeddedFont>
      <p:font typeface="Nunito Bold" charset="0"/>
      <p:regular r:id="rId19"/>
    </p:embeddedFont>
    <p:embeddedFont>
      <p:font typeface="Open Sans 2" panose="020B0604020202020204" charset="0"/>
      <p:regular r:id="rId20"/>
    </p:embeddedFont>
    <p:embeddedFont>
      <p:font typeface="Open Sans 2 Bold" panose="020B0604020202020204" charset="0"/>
      <p:regular r:id="rId21"/>
    </p:embeddedFont>
    <p:embeddedFont>
      <p:font typeface="Proxima Nova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805" autoAdjust="0"/>
  </p:normalViewPr>
  <p:slideViewPr>
    <p:cSldViewPr>
      <p:cViewPr varScale="1">
        <p:scale>
          <a:sx n="72" d="100"/>
          <a:sy n="72" d="100"/>
        </p:scale>
        <p:origin x="65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IsaMarim/TechChallenge4" TargetMode="External"/><Relationship Id="rId5" Type="http://schemas.openxmlformats.org/officeDocument/2006/relationships/hyperlink" Target="https://techchallenge4-modelo.streamlit.app/" TargetMode="Externa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bstract round frame"/>
          <p:cNvSpPr/>
          <p:nvPr/>
        </p:nvSpPr>
        <p:spPr>
          <a:xfrm>
            <a:off x="-1350137" y="-174299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 descr="Abstract round frame"/>
          <p:cNvSpPr/>
          <p:nvPr/>
        </p:nvSpPr>
        <p:spPr>
          <a:xfrm>
            <a:off x="-994970" y="-138782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4876906" y="7616290"/>
            <a:ext cx="4764788" cy="476478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B7A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499020" y="-891876"/>
            <a:ext cx="2412567" cy="241256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B7A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514350" y="1934764"/>
            <a:ext cx="6417473" cy="6417473"/>
          </a:xfrm>
          <a:custGeom>
            <a:avLst/>
            <a:gdLst/>
            <a:ahLst/>
            <a:cxnLst/>
            <a:rect l="l" t="t" r="r" b="b"/>
            <a:pathLst>
              <a:path w="6417473" h="6417473">
                <a:moveTo>
                  <a:pt x="0" y="0"/>
                </a:moveTo>
                <a:lnTo>
                  <a:pt x="6417473" y="0"/>
                </a:lnTo>
                <a:lnTo>
                  <a:pt x="6417473" y="6417472"/>
                </a:lnTo>
                <a:lnTo>
                  <a:pt x="0" y="6417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8224651" y="2848254"/>
            <a:ext cx="8693378" cy="4583348"/>
            <a:chOff x="0" y="-9525"/>
            <a:chExt cx="11591171" cy="611113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1591171" cy="1214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559"/>
                </a:lnSpc>
              </a:pPr>
              <a:r>
                <a:rPr lang="en-US" sz="6300" b="1" dirty="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TECH CHALLENGE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939324"/>
              <a:ext cx="11591171" cy="581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FASE 4 – MODELO PREDITIVO DE OBESIDADE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3801847"/>
              <a:ext cx="11591171" cy="2299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Isabela Marim Mayerhoffer Pereira - RM 362023 </a:t>
              </a:r>
            </a:p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Lucas Constantino Silva - RM 364620 </a:t>
              </a:r>
            </a:p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Pedro Bugui Garcia - RM 360783 </a:t>
              </a:r>
            </a:p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Sophia Yeshua Senra - RM 362887</a:t>
              </a:r>
            </a:p>
          </p:txBody>
        </p:sp>
        <p:sp>
          <p:nvSpPr>
            <p:cNvPr id="15" name="AutoShape 15"/>
            <p:cNvSpPr/>
            <p:nvPr/>
          </p:nvSpPr>
          <p:spPr>
            <a:xfrm>
              <a:off x="0" y="3173798"/>
              <a:ext cx="11591171" cy="0"/>
            </a:xfrm>
            <a:prstGeom prst="line">
              <a:avLst/>
            </a:prstGeom>
            <a:ln w="12700" cap="rnd">
              <a:solidFill>
                <a:srgbClr val="A5B7AE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bstract round frame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 descr="Abstract round frame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 descr="Abstract round frame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B7A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 descr="Abstract round frame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 descr="Abstract round frame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B7A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31100" y="1028700"/>
            <a:ext cx="15859357" cy="8229600"/>
            <a:chOff x="0" y="0"/>
            <a:chExt cx="4176950" cy="21674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76950" cy="2167467"/>
            </a:xfrm>
            <a:custGeom>
              <a:avLst/>
              <a:gdLst/>
              <a:ahLst/>
              <a:cxnLst/>
              <a:rect l="l" t="t" r="r" b="b"/>
              <a:pathLst>
                <a:path w="4176950" h="2167467">
                  <a:moveTo>
                    <a:pt x="12204" y="0"/>
                  </a:moveTo>
                  <a:lnTo>
                    <a:pt x="4164746" y="0"/>
                  </a:lnTo>
                  <a:cubicBezTo>
                    <a:pt x="4167983" y="0"/>
                    <a:pt x="4171087" y="1286"/>
                    <a:pt x="4173375" y="3574"/>
                  </a:cubicBezTo>
                  <a:cubicBezTo>
                    <a:pt x="4175664" y="5863"/>
                    <a:pt x="4176950" y="8967"/>
                    <a:pt x="4176950" y="12204"/>
                  </a:cubicBezTo>
                  <a:lnTo>
                    <a:pt x="4176950" y="2155263"/>
                  </a:lnTo>
                  <a:cubicBezTo>
                    <a:pt x="4176950" y="2162003"/>
                    <a:pt x="4171486" y="2167467"/>
                    <a:pt x="4164746" y="2167467"/>
                  </a:cubicBezTo>
                  <a:lnTo>
                    <a:pt x="12204" y="2167467"/>
                  </a:lnTo>
                  <a:cubicBezTo>
                    <a:pt x="5464" y="2167467"/>
                    <a:pt x="0" y="2162003"/>
                    <a:pt x="0" y="2155263"/>
                  </a:cubicBezTo>
                  <a:lnTo>
                    <a:pt x="0" y="12204"/>
                  </a:lnTo>
                  <a:cubicBezTo>
                    <a:pt x="0" y="5464"/>
                    <a:pt x="5464" y="0"/>
                    <a:pt x="122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4176950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84300" y="2325716"/>
            <a:ext cx="5270895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80"/>
              </a:lnSpc>
              <a:spcBef>
                <a:spcPct val="0"/>
              </a:spcBef>
            </a:pPr>
            <a:r>
              <a:rPr lang="en-US" sz="54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INTRODUÇÃO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01115" y="2419863"/>
            <a:ext cx="8000343" cy="576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64"/>
              </a:lnSpc>
            </a:pPr>
            <a:r>
              <a:rPr lang="en-US" sz="17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</a:t>
            </a:r>
            <a:r>
              <a:rPr lang="en-US" sz="1782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obesidade </a:t>
            </a:r>
            <a:r>
              <a:rPr lang="en-US" sz="17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é uma condição médica caracterizada pelo acúmulo excessivo de gordura corporal, associada a diversas complicações de saúde e à redução da qualidade de vida.</a:t>
            </a:r>
          </a:p>
          <a:p>
            <a:pPr marL="0" lvl="0" indent="0" algn="just">
              <a:lnSpc>
                <a:spcPts val="3564"/>
              </a:lnSpc>
            </a:pPr>
            <a:r>
              <a:rPr lang="en-US" sz="17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Atualmente, esse problema apresenta crescimento significativo em escala global, afetando indivíduos de diferentes faixas etárias e contextos socioeconômicos.</a:t>
            </a:r>
          </a:p>
          <a:p>
            <a:pPr marL="0" lvl="0" indent="0" algn="just">
              <a:lnSpc>
                <a:spcPts val="3564"/>
              </a:lnSpc>
            </a:pPr>
            <a:r>
              <a:rPr lang="en-US" sz="17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Sua origem é multifatorial, envolvendo fatores genéticos, ambientais e comportamentais, o que torna seu diagnóstico e acompanhamento mais complexos.</a:t>
            </a:r>
          </a:p>
          <a:p>
            <a:pPr marL="0" lvl="0" indent="0" algn="just">
              <a:lnSpc>
                <a:spcPts val="3564"/>
              </a:lnSpc>
            </a:pPr>
            <a:r>
              <a:rPr lang="en-US" sz="17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Diante desse cenário, este projeto utiliza a base de dados </a:t>
            </a:r>
            <a:r>
              <a:rPr lang="en-US" sz="1782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obesity.csv</a:t>
            </a:r>
            <a:r>
              <a:rPr lang="en-US" sz="17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para o desenvolvimento de um </a:t>
            </a:r>
            <a:r>
              <a:rPr lang="en-US" sz="1782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modelo</a:t>
            </a:r>
            <a:r>
              <a:rPr lang="en-US" sz="17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preditivo </a:t>
            </a:r>
            <a:r>
              <a:rPr lang="en-US" sz="1782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de Machine Learning</a:t>
            </a:r>
            <a:r>
              <a:rPr lang="en-US" sz="17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com o objetivo de auxiliar profissionais da saúde na classificação e no diagnóstico da obesidade, por meio de uma interface interativa desenvolvida em </a:t>
            </a:r>
            <a:r>
              <a:rPr lang="en-US" sz="1782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Streamlit</a:t>
            </a:r>
            <a:r>
              <a:rPr lang="en-US" sz="17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99020" y="-891876"/>
            <a:ext cx="2412567" cy="241256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B7A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 descr="Abstract round frame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Abstract round frame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86000" y="1285875"/>
            <a:ext cx="13716000" cy="7715250"/>
          </a:xfrm>
          <a:custGeom>
            <a:avLst/>
            <a:gdLst/>
            <a:ahLst/>
            <a:cxnLst/>
            <a:rect l="l" t="t" r="r" b="b"/>
            <a:pathLst>
              <a:path w="13716000" h="7715250">
                <a:moveTo>
                  <a:pt x="0" y="0"/>
                </a:moveTo>
                <a:lnTo>
                  <a:pt x="13716000" y="0"/>
                </a:lnTo>
                <a:lnTo>
                  <a:pt x="13716000" y="7715250"/>
                </a:lnTo>
                <a:lnTo>
                  <a:pt x="0" y="7715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99020" y="-891876"/>
            <a:ext cx="2412567" cy="241256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B7A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 descr="Abstract round frame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Abstract round frame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86000" y="1303020"/>
            <a:ext cx="13716000" cy="7680960"/>
          </a:xfrm>
          <a:custGeom>
            <a:avLst/>
            <a:gdLst/>
            <a:ahLst/>
            <a:cxnLst/>
            <a:rect l="l" t="t" r="r" b="b"/>
            <a:pathLst>
              <a:path w="13716000" h="7680960">
                <a:moveTo>
                  <a:pt x="0" y="0"/>
                </a:moveTo>
                <a:lnTo>
                  <a:pt x="13716000" y="0"/>
                </a:lnTo>
                <a:lnTo>
                  <a:pt x="13716000" y="7680960"/>
                </a:lnTo>
                <a:lnTo>
                  <a:pt x="0" y="7680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99020" y="-891876"/>
            <a:ext cx="2412567" cy="241256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B7A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 descr="Abstract round frame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Abstract round frame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86000" y="1328737"/>
            <a:ext cx="13716000" cy="7629525"/>
          </a:xfrm>
          <a:custGeom>
            <a:avLst/>
            <a:gdLst/>
            <a:ahLst/>
            <a:cxnLst/>
            <a:rect l="l" t="t" r="r" b="b"/>
            <a:pathLst>
              <a:path w="13716000" h="7629525">
                <a:moveTo>
                  <a:pt x="0" y="0"/>
                </a:moveTo>
                <a:lnTo>
                  <a:pt x="13716000" y="0"/>
                </a:lnTo>
                <a:lnTo>
                  <a:pt x="13716000" y="7629525"/>
                </a:lnTo>
                <a:lnTo>
                  <a:pt x="0" y="762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bstract round frame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 descr="Abstract round frame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B7A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1175430" y="2101565"/>
            <a:ext cx="6083870" cy="6083870"/>
          </a:xfrm>
          <a:custGeom>
            <a:avLst/>
            <a:gdLst/>
            <a:ahLst/>
            <a:cxnLst/>
            <a:rect l="l" t="t" r="r" b="b"/>
            <a:pathLst>
              <a:path w="6083870" h="6083870">
                <a:moveTo>
                  <a:pt x="0" y="0"/>
                </a:moveTo>
                <a:lnTo>
                  <a:pt x="6083870" y="0"/>
                </a:lnTo>
                <a:lnTo>
                  <a:pt x="6083870" y="6083870"/>
                </a:lnTo>
                <a:lnTo>
                  <a:pt x="0" y="60838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407347"/>
            <a:ext cx="8374672" cy="816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</a:pPr>
            <a:r>
              <a:rPr lang="en-US" sz="1781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Tratamento</a:t>
            </a:r>
            <a:r>
              <a:rPr lang="en-US" sz="1781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dos Dados</a:t>
            </a:r>
          </a:p>
          <a:p>
            <a:pPr marL="0" lvl="0" indent="0" algn="l">
              <a:lnSpc>
                <a:spcPts val="1959"/>
              </a:lnSpc>
            </a:pPr>
            <a:endParaRPr lang="en-US" sz="1781" b="1" dirty="0">
              <a:solidFill>
                <a:srgbClr val="000000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  <a:p>
            <a:pPr marL="384690" lvl="1" indent="-192345" algn="l">
              <a:lnSpc>
                <a:spcPts val="1959"/>
              </a:lnSpc>
              <a:buFont typeface="Arial"/>
              <a:buChar char="•"/>
            </a:pP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Padronização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variáveis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numéricas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e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contínuas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  <a:p>
            <a:pPr marL="384690" lvl="1" indent="-192345" algn="l">
              <a:lnSpc>
                <a:spcPts val="1959"/>
              </a:lnSpc>
              <a:buFont typeface="Arial"/>
              <a:buChar char="•"/>
            </a:pP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Padronização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semântica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das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categorias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por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meio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mapeamento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valores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  <a:p>
            <a:pPr marL="0" lvl="0" indent="0" algn="l">
              <a:lnSpc>
                <a:spcPts val="1959"/>
              </a:lnSpc>
            </a:pPr>
            <a:endParaRPr lang="en-US" sz="1781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0" lvl="0" indent="0" algn="l">
              <a:lnSpc>
                <a:spcPts val="1959"/>
              </a:lnSpc>
            </a:pPr>
            <a:r>
              <a:rPr lang="en-US" sz="1781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Variáveis</a:t>
            </a:r>
            <a:endParaRPr lang="en-US" sz="1781" b="1" dirty="0">
              <a:solidFill>
                <a:srgbClr val="000000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  <a:p>
            <a:pPr marL="0" lvl="0" indent="0" algn="l">
              <a:lnSpc>
                <a:spcPts val="1959"/>
              </a:lnSpc>
            </a:pPr>
            <a:endParaRPr lang="en-US" sz="1781" b="1" dirty="0">
              <a:solidFill>
                <a:srgbClr val="000000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  <a:p>
            <a:pPr marL="384690" lvl="1" indent="-192345" algn="l">
              <a:lnSpc>
                <a:spcPts val="1959"/>
              </a:lnSpc>
              <a:buFont typeface="Arial"/>
              <a:buChar char="•"/>
            </a:pP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Variáveis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quantitativas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Idade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Altura e Peso.</a:t>
            </a:r>
          </a:p>
          <a:p>
            <a:pPr marL="384690" lvl="1" indent="-192345" algn="l">
              <a:lnSpc>
                <a:spcPts val="1959"/>
              </a:lnSpc>
              <a:buFont typeface="Arial"/>
              <a:buChar char="•"/>
            </a:pP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Variáveis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qualitativas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Gênero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histórico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familiar,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hábitos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alimentares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consumo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água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atividade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física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tempo de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uso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telas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transporte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e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classe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obesidade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  <a:p>
            <a:pPr marL="0" lvl="0" indent="0" algn="l">
              <a:lnSpc>
                <a:spcPts val="1959"/>
              </a:lnSpc>
            </a:pPr>
            <a:endParaRPr lang="en-US" sz="1781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0" lvl="0" indent="0" algn="l">
              <a:lnSpc>
                <a:spcPts val="1959"/>
              </a:lnSpc>
            </a:pPr>
            <a:r>
              <a:rPr lang="en-US" sz="1781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Tratamento</a:t>
            </a:r>
            <a:r>
              <a:rPr lang="en-US" sz="1781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 </a:t>
            </a:r>
            <a:r>
              <a:rPr lang="en-US" sz="1781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Variáveis</a:t>
            </a:r>
            <a:r>
              <a:rPr lang="en-US" sz="1781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1781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Quantitativas</a:t>
            </a:r>
            <a:r>
              <a:rPr lang="en-US" sz="1781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e </a:t>
            </a:r>
            <a:r>
              <a:rPr lang="en-US" sz="1781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Categóricas</a:t>
            </a:r>
            <a:endParaRPr lang="en-US" sz="1781" b="1" dirty="0">
              <a:solidFill>
                <a:srgbClr val="000000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  <a:p>
            <a:pPr marL="0" lvl="0" indent="0" algn="l">
              <a:lnSpc>
                <a:spcPts val="1959"/>
              </a:lnSpc>
            </a:pPr>
            <a:endParaRPr lang="en-US" sz="1781" b="1" dirty="0">
              <a:solidFill>
                <a:srgbClr val="000000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  <a:p>
            <a:pPr marL="384690" lvl="1" indent="-192345" algn="l">
              <a:lnSpc>
                <a:spcPts val="1959"/>
              </a:lnSpc>
              <a:buFont typeface="Arial"/>
              <a:buChar char="•"/>
            </a:pP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Quantitativas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normalizadas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com Min-Max Scaling.</a:t>
            </a:r>
          </a:p>
          <a:p>
            <a:pPr marL="384690" lvl="1" indent="-192345" algn="l">
              <a:lnSpc>
                <a:spcPts val="1959"/>
              </a:lnSpc>
              <a:buFont typeface="Arial"/>
              <a:buChar char="•"/>
            </a:pP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Categóricas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nominais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codificadas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via One-Hot Encoding.</a:t>
            </a:r>
          </a:p>
          <a:p>
            <a:pPr marL="384690" lvl="1" indent="-192345" algn="l">
              <a:lnSpc>
                <a:spcPts val="1959"/>
              </a:lnSpc>
              <a:buFont typeface="Arial"/>
              <a:buChar char="•"/>
            </a:pP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Categóricas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ordinais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codificadas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com Ordinal Encoding.</a:t>
            </a:r>
          </a:p>
          <a:p>
            <a:pPr marL="0" lvl="0" indent="0" algn="l">
              <a:lnSpc>
                <a:spcPts val="1959"/>
              </a:lnSpc>
            </a:pPr>
            <a:endParaRPr lang="en-US" sz="1781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0" lvl="0" indent="0" algn="l">
              <a:lnSpc>
                <a:spcPts val="1959"/>
              </a:lnSpc>
            </a:pPr>
            <a:r>
              <a:rPr lang="en-US" sz="1781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Balanceamento</a:t>
            </a:r>
            <a:r>
              <a:rPr lang="en-US" sz="1781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 </a:t>
            </a:r>
            <a:r>
              <a:rPr lang="en-US" sz="1781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Amostras</a:t>
            </a:r>
            <a:endParaRPr lang="en-US" sz="1781" b="1" dirty="0">
              <a:solidFill>
                <a:srgbClr val="000000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  <a:p>
            <a:pPr marL="0" lvl="0" indent="0" algn="l">
              <a:lnSpc>
                <a:spcPts val="1959"/>
              </a:lnSpc>
            </a:pPr>
            <a:endParaRPr lang="en-US" sz="1781" b="1" dirty="0">
              <a:solidFill>
                <a:srgbClr val="000000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  <a:p>
            <a:pPr marL="384690" lvl="1" indent="-192345" algn="l">
              <a:lnSpc>
                <a:spcPts val="1959"/>
              </a:lnSpc>
              <a:buFont typeface="Arial"/>
              <a:buChar char="•"/>
            </a:pP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Aplicação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da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técnica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SMOTE no conjunto de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treino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para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reduzir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o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desbalanceamento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das classes.</a:t>
            </a:r>
          </a:p>
          <a:p>
            <a:pPr algn="l">
              <a:lnSpc>
                <a:spcPts val="1959"/>
              </a:lnSpc>
            </a:pPr>
            <a:endParaRPr lang="en-US" sz="1781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l">
              <a:lnSpc>
                <a:spcPts val="1959"/>
              </a:lnSpc>
            </a:pPr>
            <a:r>
              <a:rPr lang="en-US" sz="1781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Pipeline</a:t>
            </a:r>
          </a:p>
          <a:p>
            <a:pPr algn="l">
              <a:lnSpc>
                <a:spcPts val="1959"/>
              </a:lnSpc>
            </a:pPr>
            <a:endParaRPr lang="en-US" sz="1781" b="1" dirty="0">
              <a:solidFill>
                <a:srgbClr val="000000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  <a:p>
            <a:pPr marL="384690" lvl="1" indent="-192345" algn="l">
              <a:lnSpc>
                <a:spcPts val="1959"/>
              </a:lnSpc>
              <a:buFont typeface="Arial"/>
              <a:buChar char="•"/>
            </a:pP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Etapas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da pipeline:</a:t>
            </a:r>
          </a:p>
          <a:p>
            <a:pPr marL="769380" lvl="2" indent="-256460" algn="l">
              <a:lnSpc>
                <a:spcPts val="1959"/>
              </a:lnSpc>
              <a:buAutoNum type="alphaLcPeriod"/>
            </a:pP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Remoção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colunas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irrelevantes</a:t>
            </a:r>
            <a:endParaRPr lang="en-US" sz="1781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769380" lvl="2" indent="-256460" algn="l">
              <a:lnSpc>
                <a:spcPts val="1959"/>
              </a:lnSpc>
              <a:buAutoNum type="alphaLcPeriod"/>
            </a:pP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Codificação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variáveis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categóricas</a:t>
            </a:r>
            <a:endParaRPr lang="en-US" sz="1781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769380" lvl="2" indent="-256460" algn="l">
              <a:lnSpc>
                <a:spcPts val="1959"/>
              </a:lnSpc>
              <a:buAutoNum type="alphaLcPeriod"/>
            </a:pP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Normalização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variáveis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numéricas</a:t>
            </a:r>
            <a:endParaRPr lang="en-US" sz="1781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769380" lvl="2" indent="-256460" algn="l">
              <a:lnSpc>
                <a:spcPts val="1959"/>
              </a:lnSpc>
              <a:buAutoNum type="alphaLcPeriod"/>
            </a:pP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Balanceamento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das classes (SMOTE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apenas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no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treino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)</a:t>
            </a:r>
          </a:p>
          <a:p>
            <a:pPr marL="384690" lvl="1" indent="-192345" algn="l">
              <a:lnSpc>
                <a:spcPts val="1959"/>
              </a:lnSpc>
              <a:buFont typeface="Arial"/>
              <a:buChar char="•"/>
            </a:pP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Separação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dos dados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em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78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treino</a:t>
            </a:r>
            <a:r>
              <a:rPr lang="en-US" sz="178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(80%) e teste (20%).</a:t>
            </a:r>
          </a:p>
          <a:p>
            <a:pPr algn="l">
              <a:lnSpc>
                <a:spcPts val="1959"/>
              </a:lnSpc>
            </a:pPr>
            <a:endParaRPr lang="en-US" sz="1781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9" name="AutoShape 9"/>
          <p:cNvSpPr/>
          <p:nvPr/>
        </p:nvSpPr>
        <p:spPr>
          <a:xfrm flipV="1">
            <a:off x="10113143" y="0"/>
            <a:ext cx="0" cy="10287000"/>
          </a:xfrm>
          <a:prstGeom prst="line">
            <a:avLst/>
          </a:prstGeom>
          <a:ln w="9525" cap="flat">
            <a:solidFill>
              <a:srgbClr val="8B9C93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bstract round frame"/>
          <p:cNvSpPr/>
          <p:nvPr/>
        </p:nvSpPr>
        <p:spPr>
          <a:xfrm>
            <a:off x="-994970" y="-138782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99020" y="-891876"/>
            <a:ext cx="2412567" cy="241256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B7A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4676837"/>
            <a:ext cx="7808035" cy="4494701"/>
            <a:chOff x="0" y="0"/>
            <a:chExt cx="4378459" cy="25204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78459" cy="2520463"/>
            </a:xfrm>
            <a:custGeom>
              <a:avLst/>
              <a:gdLst/>
              <a:ahLst/>
              <a:cxnLst/>
              <a:rect l="l" t="t" r="r" b="b"/>
              <a:pathLst>
                <a:path w="4378459" h="2520463">
                  <a:moveTo>
                    <a:pt x="4253998" y="2520463"/>
                  </a:moveTo>
                  <a:lnTo>
                    <a:pt x="124460" y="2520463"/>
                  </a:lnTo>
                  <a:cubicBezTo>
                    <a:pt x="55880" y="2520463"/>
                    <a:pt x="0" y="2464583"/>
                    <a:pt x="0" y="239600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253999" y="0"/>
                  </a:lnTo>
                  <a:cubicBezTo>
                    <a:pt x="4322579" y="0"/>
                    <a:pt x="4378459" y="55880"/>
                    <a:pt x="4378459" y="124460"/>
                  </a:cubicBezTo>
                  <a:lnTo>
                    <a:pt x="4378459" y="2396003"/>
                  </a:lnTo>
                  <a:cubicBezTo>
                    <a:pt x="4378459" y="2464583"/>
                    <a:pt x="4322579" y="2520463"/>
                    <a:pt x="4253999" y="2520463"/>
                  </a:cubicBezTo>
                  <a:close/>
                </a:path>
              </a:pathLst>
            </a:custGeom>
            <a:solidFill>
              <a:srgbClr val="8B9C93">
                <a:alpha val="9804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418169" y="4964980"/>
            <a:ext cx="7127973" cy="388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2"/>
              </a:lnSpc>
            </a:pPr>
            <a:r>
              <a:rPr lang="en-US" sz="1963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 modelo apresentou um bom desempenho geral, alcançando 86% de acurácia na classificação dos níveis de obesidade.</a:t>
            </a:r>
          </a:p>
          <a:p>
            <a:pPr marL="0" lvl="0" indent="0" algn="l">
              <a:lnSpc>
                <a:spcPts val="2552"/>
              </a:lnSpc>
            </a:pPr>
            <a:endParaRPr lang="en-US" sz="1963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0" lvl="0" indent="0" algn="l">
              <a:lnSpc>
                <a:spcPts val="2552"/>
              </a:lnSpc>
            </a:pPr>
            <a:r>
              <a:rPr lang="en-US" sz="1963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As classes Obeso e Abaixo do peso obtiveram os melhores resultados, com valores elevados de precision e recall, indicando alta confiabilidade nas previsões.</a:t>
            </a:r>
          </a:p>
          <a:p>
            <a:pPr marL="0" lvl="0" indent="0" algn="l">
              <a:lnSpc>
                <a:spcPts val="2552"/>
              </a:lnSpc>
            </a:pPr>
            <a:endParaRPr lang="en-US" sz="1963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0" lvl="0" indent="0" algn="l">
              <a:lnSpc>
                <a:spcPts val="2552"/>
              </a:lnSpc>
            </a:pPr>
            <a:r>
              <a:rPr lang="en-US" sz="1963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 classe Sobrepeso apresentou desempenho consistente, enquanto a classe Peso normal mostrou maior dificuldade de classificação, refletida em métricas ligeiramente inferiores.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277776"/>
            <a:ext cx="13495946" cy="1109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90"/>
              </a:lnSpc>
            </a:pPr>
            <a:r>
              <a:rPr lang="en-US" sz="7900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Modelo – Random Forest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451265" y="4590075"/>
            <a:ext cx="7808035" cy="4668225"/>
            <a:chOff x="0" y="0"/>
            <a:chExt cx="4378459" cy="26177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378459" cy="2617769"/>
            </a:xfrm>
            <a:custGeom>
              <a:avLst/>
              <a:gdLst/>
              <a:ahLst/>
              <a:cxnLst/>
              <a:rect l="l" t="t" r="r" b="b"/>
              <a:pathLst>
                <a:path w="4378459" h="2617769">
                  <a:moveTo>
                    <a:pt x="4253998" y="2617768"/>
                  </a:moveTo>
                  <a:lnTo>
                    <a:pt x="124460" y="2617768"/>
                  </a:lnTo>
                  <a:cubicBezTo>
                    <a:pt x="55880" y="2617768"/>
                    <a:pt x="0" y="2561888"/>
                    <a:pt x="0" y="249330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253999" y="0"/>
                  </a:lnTo>
                  <a:cubicBezTo>
                    <a:pt x="4322579" y="0"/>
                    <a:pt x="4378459" y="55880"/>
                    <a:pt x="4378459" y="124460"/>
                  </a:cubicBezTo>
                  <a:lnTo>
                    <a:pt x="4378459" y="2493308"/>
                  </a:lnTo>
                  <a:cubicBezTo>
                    <a:pt x="4378459" y="2561888"/>
                    <a:pt x="4322579" y="2617769"/>
                    <a:pt x="4253999" y="2617769"/>
                  </a:cubicBezTo>
                  <a:close/>
                </a:path>
              </a:pathLst>
            </a:custGeom>
            <a:solidFill>
              <a:srgbClr val="8B9C93">
                <a:alpha val="9804"/>
              </a:srgbClr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0112166" y="5420008"/>
            <a:ext cx="6486232" cy="3008360"/>
          </a:xfrm>
          <a:custGeom>
            <a:avLst/>
            <a:gdLst/>
            <a:ahLst/>
            <a:cxnLst/>
            <a:rect l="l" t="t" r="r" b="b"/>
            <a:pathLst>
              <a:path w="6486232" h="3008360">
                <a:moveTo>
                  <a:pt x="0" y="0"/>
                </a:moveTo>
                <a:lnTo>
                  <a:pt x="6486232" y="0"/>
                </a:lnTo>
                <a:lnTo>
                  <a:pt x="6486232" y="3008359"/>
                </a:lnTo>
                <a:lnTo>
                  <a:pt x="0" y="30083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bstract round frame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 descr="Abstract round frame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B7A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967792" y="695647"/>
            <a:ext cx="8846915" cy="8895706"/>
            <a:chOff x="0" y="0"/>
            <a:chExt cx="2330052" cy="234290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30052" cy="2342902"/>
            </a:xfrm>
            <a:custGeom>
              <a:avLst/>
              <a:gdLst/>
              <a:ahLst/>
              <a:cxnLst/>
              <a:rect l="l" t="t" r="r" b="b"/>
              <a:pathLst>
                <a:path w="2330052" h="2342902">
                  <a:moveTo>
                    <a:pt x="0" y="0"/>
                  </a:moveTo>
                  <a:lnTo>
                    <a:pt x="2330052" y="0"/>
                  </a:lnTo>
                  <a:lnTo>
                    <a:pt x="2330052" y="2342902"/>
                  </a:lnTo>
                  <a:lnTo>
                    <a:pt x="0" y="2342902"/>
                  </a:lnTo>
                  <a:close/>
                </a:path>
              </a:pathLst>
            </a:custGeom>
            <a:solidFill>
              <a:srgbClr val="8B9C9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330052" cy="2400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221556" y="3458083"/>
            <a:ext cx="5122944" cy="0"/>
          </a:xfrm>
          <a:prstGeom prst="line">
            <a:avLst/>
          </a:prstGeom>
          <a:ln w="38100" cap="flat">
            <a:solidFill>
              <a:srgbClr val="8B9C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0932701" y="1503404"/>
            <a:ext cx="6917098" cy="6917098"/>
          </a:xfrm>
          <a:custGeom>
            <a:avLst/>
            <a:gdLst/>
            <a:ahLst/>
            <a:cxnLst/>
            <a:rect l="l" t="t" r="r" b="b"/>
            <a:pathLst>
              <a:path w="6917098" h="6917098">
                <a:moveTo>
                  <a:pt x="0" y="0"/>
                </a:moveTo>
                <a:lnTo>
                  <a:pt x="6917098" y="0"/>
                </a:lnTo>
                <a:lnTo>
                  <a:pt x="6917098" y="6917098"/>
                </a:lnTo>
                <a:lnTo>
                  <a:pt x="0" y="6917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21556" y="1771831"/>
            <a:ext cx="6654712" cy="118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25"/>
              </a:lnSpc>
            </a:pPr>
            <a:r>
              <a:rPr lang="en-US" sz="8500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STREAMLIT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1556" y="4048633"/>
            <a:ext cx="6461944" cy="112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8"/>
              </a:lnSpc>
            </a:pPr>
            <a:r>
              <a:rPr lang="en-US" sz="2163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  <a:hlinkClick r:id="rId5"/>
              </a:rPr>
              <a:t>Streamlit</a:t>
            </a:r>
            <a:endParaRPr lang="en-US" sz="2163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l">
              <a:lnSpc>
                <a:spcPts val="3028"/>
              </a:lnSpc>
            </a:pPr>
            <a:endParaRPr lang="en-US" sz="2163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l">
              <a:lnSpc>
                <a:spcPts val="3028"/>
              </a:lnSpc>
            </a:pPr>
            <a:r>
              <a:rPr lang="en-US" sz="2163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  <a:hlinkClick r:id="rId6"/>
              </a:rPr>
              <a:t>Git</a:t>
            </a:r>
            <a:endParaRPr lang="en-US" sz="2163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bstract round frame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 descr="Abstract round frame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B7A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 descr="Abstract round frame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 descr="Abstract round frame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B7A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84300" y="2325716"/>
            <a:ext cx="5270895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80"/>
              </a:lnSpc>
              <a:spcBef>
                <a:spcPct val="0"/>
              </a:spcBef>
            </a:pPr>
            <a:r>
              <a:rPr lang="en-US" sz="54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CONCLUSÃO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082346" y="1028700"/>
            <a:ext cx="11434255" cy="8229600"/>
            <a:chOff x="0" y="0"/>
            <a:chExt cx="4176950" cy="21674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176950" cy="2167467"/>
            </a:xfrm>
            <a:custGeom>
              <a:avLst/>
              <a:gdLst/>
              <a:ahLst/>
              <a:cxnLst/>
              <a:rect l="l" t="t" r="r" b="b"/>
              <a:pathLst>
                <a:path w="4176950" h="2167467">
                  <a:moveTo>
                    <a:pt x="12204" y="0"/>
                  </a:moveTo>
                  <a:lnTo>
                    <a:pt x="4164746" y="0"/>
                  </a:lnTo>
                  <a:cubicBezTo>
                    <a:pt x="4167983" y="0"/>
                    <a:pt x="4171087" y="1286"/>
                    <a:pt x="4173375" y="3574"/>
                  </a:cubicBezTo>
                  <a:cubicBezTo>
                    <a:pt x="4175664" y="5863"/>
                    <a:pt x="4176950" y="8967"/>
                    <a:pt x="4176950" y="12204"/>
                  </a:cubicBezTo>
                  <a:lnTo>
                    <a:pt x="4176950" y="2155263"/>
                  </a:lnTo>
                  <a:cubicBezTo>
                    <a:pt x="4176950" y="2162003"/>
                    <a:pt x="4171486" y="2167467"/>
                    <a:pt x="4164746" y="2167467"/>
                  </a:cubicBezTo>
                  <a:lnTo>
                    <a:pt x="12204" y="2167467"/>
                  </a:lnTo>
                  <a:cubicBezTo>
                    <a:pt x="5464" y="2167467"/>
                    <a:pt x="0" y="2162003"/>
                    <a:pt x="0" y="2155263"/>
                  </a:cubicBezTo>
                  <a:lnTo>
                    <a:pt x="0" y="12204"/>
                  </a:lnTo>
                  <a:cubicBezTo>
                    <a:pt x="0" y="5464"/>
                    <a:pt x="5464" y="0"/>
                    <a:pt x="122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4176950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543800" y="1485900"/>
            <a:ext cx="9753600" cy="6875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564"/>
              </a:lnSpc>
            </a:pPr>
            <a:r>
              <a:rPr lang="pt-BR" b="0" i="0" dirty="0">
                <a:effectLst/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A conclusão deste trabalho ressalta a eficácia e a necessidade de incorporar a tecnologia de </a:t>
            </a:r>
            <a:r>
              <a:rPr lang="pt-BR" b="0" i="0" dirty="0" err="1">
                <a:effectLst/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Machine</a:t>
            </a:r>
            <a:r>
              <a:rPr lang="pt-BR" b="0" i="0" dirty="0">
                <a:effectLst/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 Learning como uma ferramenta de apoio à decisão clínica na área da saúde, especificamente no diagnóstico preditivo da obesidade. O modelo desenvolvido demonstrou ser um instrumento robusto, atingindo uma notável acurácia de, pelo menos, 86% na inferência de diagnósticos de obesidade. </a:t>
            </a:r>
          </a:p>
          <a:p>
            <a:pPr marL="0" lvl="0" indent="0" algn="just">
              <a:lnSpc>
                <a:spcPts val="3564"/>
              </a:lnSpc>
            </a:pPr>
            <a:r>
              <a:rPr lang="pt-BR" b="0" i="0" dirty="0">
                <a:effectLst/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Diferente da análise humana, que é limitada ao processamento de poucas variáveis por vez, o </a:t>
            </a:r>
            <a:r>
              <a:rPr lang="pt-BR" b="0" i="0" dirty="0" err="1">
                <a:effectLst/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Machine</a:t>
            </a:r>
            <a:r>
              <a:rPr lang="pt-BR" b="0" i="0" dirty="0">
                <a:effectLst/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 Learning tem a vantagem da análise em larga escala. Ao processar simultaneamente  um vasto conjunto de </a:t>
            </a:r>
            <a:r>
              <a:rPr lang="pt-BR" b="0" i="0" dirty="0" err="1">
                <a:effectLst/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features</a:t>
            </a:r>
            <a:r>
              <a:rPr lang="pt-BR" b="0" i="0" dirty="0">
                <a:effectLst/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 do cotidiano (como hábitos alimentares, histórico familiar e nível de atividade física), o modelo consegue quantificar a influência sutil e combinada de cada fator. </a:t>
            </a:r>
          </a:p>
          <a:p>
            <a:pPr marL="0" lvl="0" indent="0" algn="just">
              <a:lnSpc>
                <a:spcPts val="3564"/>
              </a:lnSpc>
            </a:pPr>
            <a:r>
              <a:rPr lang="pt-BR" b="0" i="0" dirty="0">
                <a:effectLst/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Em suma, este modelo não substitui o profissional de saúde, mas o empodera. Ele permite aos especialistas uma identificação mais rápida e assertiva dos quadros de obesidade. A implementação desta solução representa um avanço significativo, otimizando o tempo de diagnóstico e possibilitando intervenções preventivas ou terapêuticas mais precoces e personalizadas para os pacientes.</a:t>
            </a:r>
            <a:endParaRPr lang="en-US" dirty="0">
              <a:solidFill>
                <a:srgbClr val="000000"/>
              </a:solidFill>
              <a:latin typeface="Open Sans 2" panose="020B0604020202020204" charset="0"/>
              <a:ea typeface="Open Sans 2" panose="020B0604020202020204" charset="0"/>
              <a:cs typeface="Open Sans 2" panose="020B0604020202020204" charset="0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570</Words>
  <Application>Microsoft Office PowerPoint</Application>
  <PresentationFormat>Personalizar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7" baseType="lpstr">
      <vt:lpstr>Proxima Nova Bold</vt:lpstr>
      <vt:lpstr>Open Sans 2 Bold</vt:lpstr>
      <vt:lpstr>Open Sans 2</vt:lpstr>
      <vt:lpstr>Calibri</vt:lpstr>
      <vt:lpstr>Nunito Bold</vt:lpstr>
      <vt:lpstr>Nunito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Black Minimalist Simple Project Presentation</dc:title>
  <cp:lastModifiedBy>sophia senra</cp:lastModifiedBy>
  <cp:revision>6</cp:revision>
  <dcterms:created xsi:type="dcterms:W3CDTF">2006-08-16T00:00:00Z</dcterms:created>
  <dcterms:modified xsi:type="dcterms:W3CDTF">2025-12-17T00:02:57Z</dcterms:modified>
  <dc:identifier>DAG7rHjsN4A</dc:identifier>
</cp:coreProperties>
</file>